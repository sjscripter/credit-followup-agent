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lear Sans" panose="020B0604020202020204" charset="0"/>
      <p:regular r:id="rId13"/>
    </p:embeddedFont>
    <p:embeddedFont>
      <p:font typeface="Clear Sans Bold" panose="020B0604020202020204" charset="0"/>
      <p:regular r:id="rId14"/>
    </p:embeddedFont>
    <p:embeddedFont>
      <p:font typeface="Open Sauce" panose="020B0604020202020204" charset="0"/>
      <p:regular r:id="rId15"/>
    </p:embeddedFont>
    <p:embeddedFont>
      <p:font typeface="Open Sauce Bold" panose="020B0604020202020204" charset="0"/>
      <p:regular r:id="rId16"/>
    </p:embeddedFont>
    <p:embeddedFont>
      <p:font typeface="Open Sauce Light" panose="020B0604020202020204" charset="0"/>
      <p:regular r:id="rId17"/>
    </p:embeddedFont>
    <p:embeddedFont>
      <p:font typeface="Sansation" panose="020B0604020202020204"/>
      <p:regular r:id="rId18"/>
    </p:embeddedFont>
    <p:embeddedFont>
      <p:font typeface="Sansation Bold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14.sv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915736"/>
            <a:ext cx="10496758" cy="5857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72"/>
              </a:lnSpc>
            </a:pPr>
            <a:r>
              <a:rPr lang="en-US" sz="12098" b="1" spc="-25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CREDIT FOLLOW-UP</a:t>
            </a:r>
          </a:p>
          <a:p>
            <a:pPr algn="l">
              <a:lnSpc>
                <a:spcPts val="11372"/>
              </a:lnSpc>
            </a:pPr>
            <a:r>
              <a:rPr lang="en-US" sz="12098" b="1" spc="-25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EMAIL AGENT</a:t>
            </a:r>
          </a:p>
          <a:p>
            <a:pPr algn="l">
              <a:lnSpc>
                <a:spcPts val="11372"/>
              </a:lnSpc>
            </a:pPr>
            <a:endParaRPr lang="en-US" sz="12098" b="1" spc="-254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25458" y="5535318"/>
            <a:ext cx="6389480" cy="2022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600" spc="-7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Automating overdue invoice follow-ups using LLM-powered tone escalation</a:t>
            </a:r>
          </a:p>
          <a:p>
            <a:pPr algn="l">
              <a:lnSpc>
                <a:spcPts val="3996"/>
              </a:lnSpc>
            </a:pPr>
            <a:endParaRPr lang="en-US" sz="3600" spc="-75">
              <a:solidFill>
                <a:srgbClr val="000000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131757" y="9635109"/>
            <a:ext cx="12752760" cy="6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62"/>
              </a:lnSpc>
            </a:pPr>
            <a:r>
              <a:rPr lang="en-US" sz="2100" b="1" spc="3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Task 2 : Finance Agent | |  LLM : </a:t>
            </a:r>
            <a:r>
              <a:rPr lang="en-US" sz="2100" spc="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Llama 3.3 70B | | </a:t>
            </a:r>
            <a:r>
              <a:rPr lang="en-US" sz="2100" b="1" spc="3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Framework : </a:t>
            </a:r>
            <a:r>
              <a:rPr lang="en-US" sz="2100" spc="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LangChain | | </a:t>
            </a:r>
            <a:r>
              <a:rPr lang="en-US" sz="2100" b="1" spc="3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UI : </a:t>
            </a:r>
            <a:r>
              <a:rPr lang="en-US" sz="2100" spc="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Streamlit</a:t>
            </a:r>
          </a:p>
          <a:p>
            <a:pPr algn="just">
              <a:lnSpc>
                <a:spcPts val="2562"/>
              </a:lnSpc>
            </a:pPr>
            <a:endParaRPr lang="en-US" sz="2100" spc="3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97967" y="3241655"/>
            <a:ext cx="15582205" cy="5726460"/>
          </a:xfrm>
          <a:custGeom>
            <a:avLst/>
            <a:gdLst/>
            <a:ahLst/>
            <a:cxnLst/>
            <a:rect l="l" t="t" r="r" b="b"/>
            <a:pathLst>
              <a:path w="15582205" h="5726460">
                <a:moveTo>
                  <a:pt x="0" y="0"/>
                </a:moveTo>
                <a:lnTo>
                  <a:pt x="15582204" y="0"/>
                </a:lnTo>
                <a:lnTo>
                  <a:pt x="15582204" y="5726461"/>
                </a:lnTo>
                <a:lnTo>
                  <a:pt x="0" y="57264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39727" y="1928725"/>
            <a:ext cx="12070701" cy="60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What finance teams deal with every day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9257" y="1019175"/>
            <a:ext cx="1187997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0"/>
              </a:lnSpc>
              <a:spcBef>
                <a:spcPct val="0"/>
              </a:spcBef>
            </a:pPr>
            <a:r>
              <a:rPr lang="en-US" sz="7058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THE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68693" y="4829175"/>
            <a:ext cx="57563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FINANCE TEAMS MANUALLY WRITE FOLLOW-UP EMAILS FOR EVERY OVERDUE INVOICE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32307" y="4829175"/>
            <a:ext cx="487812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DIFFERENT PEOPLE WRITE DIFFERENT EMAILS - NO STANDARD ESCALATION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08951" y="7626322"/>
            <a:ext cx="561604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NO RECORD OF WHAT WAS SENT, WHEN, AND IN WHAT TONE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32307" y="7548141"/>
            <a:ext cx="537065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OVERDUE ACCOUNTS SLIP THROUGH BECAUSE NO ONE IS TRACKING DAYS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2556672" y="4095750"/>
            <a:ext cx="1187997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spc="24">
                <a:solidFill>
                  <a:srgbClr val="1800AD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HOURS WASTED</a:t>
            </a:r>
          </a:p>
          <a:p>
            <a:pPr marL="0" lvl="0" indent="0" algn="ctr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1800AD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-2556672" y="6924675"/>
            <a:ext cx="1187997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spc="24">
                <a:solidFill>
                  <a:srgbClr val="1800AD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NO AUDIT TRAIL</a:t>
            </a:r>
          </a:p>
          <a:p>
            <a:pPr marL="0" lvl="0" indent="0" algn="ctr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1800AD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848650" y="4095750"/>
            <a:ext cx="1187997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spc="24">
                <a:solidFill>
                  <a:srgbClr val="1800AD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INCONSISTENT TONE</a:t>
            </a:r>
          </a:p>
          <a:p>
            <a:pPr marL="0" lvl="0" indent="0" algn="ctr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1800AD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584243" y="6814716"/>
            <a:ext cx="1187997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spc="24">
                <a:solidFill>
                  <a:srgbClr val="1800AD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LATE ESCALATION</a:t>
            </a:r>
          </a:p>
          <a:p>
            <a:pPr marL="0" lvl="0" indent="0" algn="ctr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1800AD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97967" y="2995095"/>
            <a:ext cx="7413169" cy="1940209"/>
          </a:xfrm>
          <a:custGeom>
            <a:avLst/>
            <a:gdLst/>
            <a:ahLst/>
            <a:cxnLst/>
            <a:rect l="l" t="t" r="r" b="b"/>
            <a:pathLst>
              <a:path w="7413169" h="1940209">
                <a:moveTo>
                  <a:pt x="0" y="0"/>
                </a:moveTo>
                <a:lnTo>
                  <a:pt x="7413169" y="0"/>
                </a:lnTo>
                <a:lnTo>
                  <a:pt x="7413169" y="1940210"/>
                </a:lnTo>
                <a:lnTo>
                  <a:pt x="0" y="19402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96021" y="2000250"/>
            <a:ext cx="12070701" cy="60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An AI agent that automates the entire follow-up workflow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8056" y="1019175"/>
            <a:ext cx="1187997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0"/>
              </a:lnSpc>
              <a:spcBef>
                <a:spcPct val="0"/>
              </a:spcBef>
            </a:pPr>
            <a:r>
              <a:rPr lang="en-US" sz="7058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THE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97967" y="5276381"/>
            <a:ext cx="7413169" cy="1940209"/>
          </a:xfrm>
          <a:custGeom>
            <a:avLst/>
            <a:gdLst/>
            <a:ahLst/>
            <a:cxnLst/>
            <a:rect l="l" t="t" r="r" b="b"/>
            <a:pathLst>
              <a:path w="7413169" h="1940209">
                <a:moveTo>
                  <a:pt x="0" y="0"/>
                </a:moveTo>
                <a:lnTo>
                  <a:pt x="7413169" y="0"/>
                </a:lnTo>
                <a:lnTo>
                  <a:pt x="7413169" y="1940209"/>
                </a:lnTo>
                <a:lnTo>
                  <a:pt x="0" y="1940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97967" y="7607115"/>
            <a:ext cx="7413169" cy="1940209"/>
          </a:xfrm>
          <a:custGeom>
            <a:avLst/>
            <a:gdLst/>
            <a:ahLst/>
            <a:cxnLst/>
            <a:rect l="l" t="t" r="r" b="b"/>
            <a:pathLst>
              <a:path w="7413169" h="1940209">
                <a:moveTo>
                  <a:pt x="0" y="0"/>
                </a:moveTo>
                <a:lnTo>
                  <a:pt x="7413169" y="0"/>
                </a:lnTo>
                <a:lnTo>
                  <a:pt x="7413169" y="1940209"/>
                </a:lnTo>
                <a:lnTo>
                  <a:pt x="0" y="1940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997564" y="2970371"/>
            <a:ext cx="7413169" cy="1940209"/>
          </a:xfrm>
          <a:custGeom>
            <a:avLst/>
            <a:gdLst/>
            <a:ahLst/>
            <a:cxnLst/>
            <a:rect l="l" t="t" r="r" b="b"/>
            <a:pathLst>
              <a:path w="7413169" h="1940209">
                <a:moveTo>
                  <a:pt x="0" y="0"/>
                </a:moveTo>
                <a:lnTo>
                  <a:pt x="7413169" y="0"/>
                </a:lnTo>
                <a:lnTo>
                  <a:pt x="7413169" y="1940209"/>
                </a:lnTo>
                <a:lnTo>
                  <a:pt x="0" y="1940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997564" y="5251657"/>
            <a:ext cx="7413169" cy="1940209"/>
          </a:xfrm>
          <a:custGeom>
            <a:avLst/>
            <a:gdLst/>
            <a:ahLst/>
            <a:cxnLst/>
            <a:rect l="l" t="t" r="r" b="b"/>
            <a:pathLst>
              <a:path w="7413169" h="1940209">
                <a:moveTo>
                  <a:pt x="0" y="0"/>
                </a:moveTo>
                <a:lnTo>
                  <a:pt x="7413169" y="0"/>
                </a:lnTo>
                <a:lnTo>
                  <a:pt x="7413169" y="1940209"/>
                </a:lnTo>
                <a:lnTo>
                  <a:pt x="0" y="1940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997564" y="7582391"/>
            <a:ext cx="7413169" cy="1940209"/>
          </a:xfrm>
          <a:custGeom>
            <a:avLst/>
            <a:gdLst/>
            <a:ahLst/>
            <a:cxnLst/>
            <a:rect l="l" t="t" r="r" b="b"/>
            <a:pathLst>
              <a:path w="7413169" h="1940209">
                <a:moveTo>
                  <a:pt x="0" y="0"/>
                </a:moveTo>
                <a:lnTo>
                  <a:pt x="7413169" y="0"/>
                </a:lnTo>
                <a:lnTo>
                  <a:pt x="7413169" y="1940209"/>
                </a:lnTo>
                <a:lnTo>
                  <a:pt x="0" y="1940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49181" y="3222250"/>
            <a:ext cx="323179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24">
                <a:solidFill>
                  <a:srgbClr val="D9D9D9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AUTO-DETECTION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9181" y="5554430"/>
            <a:ext cx="474219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D9D9D9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LLM EMAILS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D9D9D9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49181" y="7914190"/>
            <a:ext cx="503886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D9D9D9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AUDIT TRAIL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D9D9D9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4000" y="3222250"/>
            <a:ext cx="3326197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D9D9D9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TONE ESCALATION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D9D9D9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44000" y="5554430"/>
            <a:ext cx="2633932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D9D9D9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LEGAL FLAG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D9D9D9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44000" y="7914190"/>
            <a:ext cx="5192122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D9D9D9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DASHBOARD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D9D9D9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49181" y="3955675"/>
            <a:ext cx="701496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5CE1E6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READS INVOICE CSV AND CALCULATES DAYS OVERDUE FROM TODAY'S DATE AUTOMATICALLY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5CE1E6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49181" y="6236961"/>
            <a:ext cx="701496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5CE1E6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LLAMA 3.3 70B GENERATES PERSONALISED EMAILS WITH CORRECT TONE PER INVOICE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5CE1E6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97068" y="8567695"/>
            <a:ext cx="701496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5CE1E6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EVERY EMAIL LOGGED WITH TIMESTAMP, STAGE, TONE, AND STATUS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5CE1E6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72722" y="3955675"/>
            <a:ext cx="701496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5CE1E6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4 ESCALATION STAGES FROM WARM TO STERN BASED ON DAYS OVERDUE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5CE1E6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172722" y="6236961"/>
            <a:ext cx="701496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5CE1E6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30+ DAY INVOICES ARE FLAGGED FOR LEGAL REVIEW — NO AUTO EMAIL SENT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5CE1E6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20608" y="8567695"/>
            <a:ext cx="701496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5CE1E6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STREAMLIT UI FOR VISUAL CONTROL, MONITORING, AND LOG DOWNLOAD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5CE1E6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49181" y="2620461"/>
            <a:ext cx="15430990" cy="1330923"/>
          </a:xfrm>
          <a:custGeom>
            <a:avLst/>
            <a:gdLst/>
            <a:ahLst/>
            <a:cxnLst/>
            <a:rect l="l" t="t" r="r" b="b"/>
            <a:pathLst>
              <a:path w="15430990" h="1330923">
                <a:moveTo>
                  <a:pt x="0" y="0"/>
                </a:moveTo>
                <a:lnTo>
                  <a:pt x="15430990" y="0"/>
                </a:lnTo>
                <a:lnTo>
                  <a:pt x="15430990" y="1330923"/>
                </a:lnTo>
                <a:lnTo>
                  <a:pt x="0" y="13309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89840" y="4311937"/>
            <a:ext cx="16708320" cy="3613174"/>
          </a:xfrm>
          <a:custGeom>
            <a:avLst/>
            <a:gdLst/>
            <a:ahLst/>
            <a:cxnLst/>
            <a:rect l="l" t="t" r="r" b="b"/>
            <a:pathLst>
              <a:path w="16708320" h="3613174">
                <a:moveTo>
                  <a:pt x="0" y="0"/>
                </a:moveTo>
                <a:lnTo>
                  <a:pt x="16708320" y="0"/>
                </a:lnTo>
                <a:lnTo>
                  <a:pt x="16708320" y="3613174"/>
                </a:lnTo>
                <a:lnTo>
                  <a:pt x="0" y="36131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657359" y="1019175"/>
            <a:ext cx="1187997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0"/>
              </a:lnSpc>
              <a:spcBef>
                <a:spcPct val="0"/>
              </a:spcBef>
            </a:pPr>
            <a:r>
              <a:rPr lang="en-US" sz="7058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HOW THE AGENT WORKS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37338" y="4772025"/>
            <a:ext cx="3541327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AUDIT LOGGER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3F3E3A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196944" y="4772025"/>
            <a:ext cx="3541327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LLM GENERATOR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3F3E3A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806522" y="4772025"/>
            <a:ext cx="354132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ESCALATION</a:t>
            </a:r>
          </a:p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ENGINE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3F3E3A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441090" y="4772025"/>
            <a:ext cx="3541327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TRIGGER LOGIC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3F3E3A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25357" y="4772025"/>
            <a:ext cx="3541327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24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CSV INPUT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b="1" spc="24">
              <a:solidFill>
                <a:srgbClr val="3F3E3A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9181" y="5745000"/>
            <a:ext cx="2263509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INVOICE DATA LOADED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VIA PANDAS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666685" y="5745000"/>
            <a:ext cx="2263509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DAYS OVERDUE CALCULATED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FROM TODAY'S DATE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60390" y="5897400"/>
            <a:ext cx="2263509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STAGE 1-4 OR LEGAL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FLAG ASSIGNED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376424" y="5810250"/>
            <a:ext cx="2263509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GROQ API GENERATES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PERSONALISED EMAIL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668634" y="5745000"/>
            <a:ext cx="2263509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LOGGED TO JSON WITH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spc="2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TIMESTAMP &amp; STATUS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b="1" spc="20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42027" y="2909685"/>
            <a:ext cx="63890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FFFFFF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59530" y="2909685"/>
            <a:ext cx="63890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FFFFFF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79739" y="2909685"/>
            <a:ext cx="63890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FFFFFF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88724" y="2909685"/>
            <a:ext cx="63890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FFFFFF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631714" y="2909685"/>
            <a:ext cx="63890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49">
                <a:solidFill>
                  <a:srgbClr val="FFFFFF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19739" y="2534327"/>
            <a:ext cx="15747098" cy="6948407"/>
          </a:xfrm>
          <a:custGeom>
            <a:avLst/>
            <a:gdLst/>
            <a:ahLst/>
            <a:cxnLst/>
            <a:rect l="l" t="t" r="r" b="b"/>
            <a:pathLst>
              <a:path w="15747098" h="6948407">
                <a:moveTo>
                  <a:pt x="0" y="0"/>
                </a:moveTo>
                <a:lnTo>
                  <a:pt x="15747098" y="0"/>
                </a:lnTo>
                <a:lnTo>
                  <a:pt x="15747098" y="6948407"/>
                </a:lnTo>
                <a:lnTo>
                  <a:pt x="0" y="69484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49252" y="1019175"/>
            <a:ext cx="1403522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0"/>
              </a:lnSpc>
              <a:spcBef>
                <a:spcPct val="0"/>
              </a:spcBef>
            </a:pPr>
            <a:r>
              <a:rPr lang="en-US" sz="7058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TONE ESCALATION MATRIX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49252" y="1928725"/>
            <a:ext cx="14788902" cy="60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Each stage has a different tone, message, and call to action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96326" y="3410717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474644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1–7 DAYS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474644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996326" y="4715259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474644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8–14 DAYS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474644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96326" y="6019800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474644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15–21 DAYS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474644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96326" y="7429079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474644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22–30 DAYS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474644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996326" y="8734004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474644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30+ DAYS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474644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61491" y="3410717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30303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WARM &amp; FRIENDLY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30303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361491" y="4715259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30303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POLITE BUT FIRM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30303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361491" y="6019800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30303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FORMAL &amp; SERIOUS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30303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61491" y="7429079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30303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STERN &amp; URGENT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30303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361491" y="8734004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30303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NO EMAIL SENT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30303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434278" y="3358157"/>
            <a:ext cx="323179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spc="16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GENTLE REMINDER, ASSUME OVERSIGHT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spc="16">
              <a:solidFill>
                <a:srgbClr val="000000"/>
              </a:solidFill>
              <a:latin typeface="Sansation"/>
              <a:ea typeface="Sansation"/>
              <a:cs typeface="Sansation"/>
              <a:sym typeface="Sansatio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434278" y="4662698"/>
            <a:ext cx="323179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PAYMENT STILL PENDING, REQUEST CONFIRMATION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spc="16">
              <a:solidFill>
                <a:srgbClr val="000000"/>
              </a:solidFill>
              <a:latin typeface="Sansation"/>
              <a:ea typeface="Sansation"/>
              <a:cs typeface="Sansation"/>
              <a:sym typeface="Sansatio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434278" y="5967239"/>
            <a:ext cx="323179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spc="16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ESCALATING CONCERN, MENTION IMPACT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spc="16">
              <a:solidFill>
                <a:srgbClr val="000000"/>
              </a:solidFill>
              <a:latin typeface="Sansation"/>
              <a:ea typeface="Sansation"/>
              <a:cs typeface="Sansation"/>
              <a:sym typeface="Sansatio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34278" y="7376518"/>
            <a:ext cx="323179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FINAL REMINDER BEFORE ESCALATION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spc="16">
              <a:solidFill>
                <a:srgbClr val="000000"/>
              </a:solidFill>
              <a:latin typeface="Sansation"/>
              <a:ea typeface="Sansation"/>
              <a:cs typeface="Sansation"/>
              <a:sym typeface="Sansation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434278" y="8681443"/>
            <a:ext cx="323179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spc="16">
                <a:solidFill>
                  <a:srgbClr val="000000"/>
                </a:solidFill>
                <a:latin typeface="Sansation"/>
                <a:ea typeface="Sansation"/>
                <a:cs typeface="Sansation"/>
                <a:sym typeface="Sansation"/>
              </a:rPr>
              <a:t>FLAGGED FOR FINANCE MANAGER REVIEW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spc="16">
              <a:solidFill>
                <a:srgbClr val="000000"/>
              </a:solidFill>
              <a:latin typeface="Sansation"/>
              <a:ea typeface="Sansation"/>
              <a:cs typeface="Sansation"/>
              <a:sym typeface="Sansation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448374" y="3410717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PAY NOW LINK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448374" y="4715259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CONFIRM PAYMENT DATE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448374" y="6019800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RESPOND WITHIN 48HRS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448374" y="7429079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PAY IMMEDIATELY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48374" y="8734004"/>
            <a:ext cx="32317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spc="1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MANUAL REVIEW REQUIRED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 lang="en-US" sz="1600" b="1" spc="16">
              <a:solidFill>
                <a:srgbClr val="000000"/>
              </a:solidFill>
              <a:latin typeface="Sansation Bold"/>
              <a:ea typeface="Sansation Bold"/>
              <a:cs typeface="Sansation Bold"/>
              <a:sym typeface="Sansatio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39727" y="1019175"/>
            <a:ext cx="1403522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0"/>
              </a:lnSpc>
              <a:spcBef>
                <a:spcPct val="0"/>
              </a:spcBef>
            </a:pPr>
            <a:r>
              <a:rPr lang="en-US" sz="7058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TECH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2602" y="2926447"/>
            <a:ext cx="12788738" cy="6041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4"/>
              </a:lnSpc>
            </a:pP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LLM - Llama 3.3 70B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via Groq: 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Free tier, fast inference, excellent JSON output</a:t>
            </a:r>
          </a:p>
          <a:p>
            <a:pPr algn="l">
              <a:lnSpc>
                <a:spcPts val="4014"/>
              </a:lnSpc>
            </a:pPr>
            <a:endParaRPr lang="en-US" sz="2676" spc="8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4014"/>
              </a:lnSpc>
            </a:pP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Framework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- </a:t>
            </a: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LangChain: 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Industry standard, easy LLM integration</a:t>
            </a:r>
          </a:p>
          <a:p>
            <a:pPr algn="l">
              <a:lnSpc>
                <a:spcPts val="4014"/>
              </a:lnSpc>
            </a:pPr>
            <a:endParaRPr lang="en-US" sz="2676" spc="8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4014"/>
              </a:lnSpc>
            </a:pP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Data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- </a:t>
            </a: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CSV via pandas: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Simple, portable, meets task requirement</a:t>
            </a:r>
          </a:p>
          <a:p>
            <a:pPr algn="l">
              <a:lnSpc>
                <a:spcPts val="4014"/>
              </a:lnSpc>
            </a:pPr>
            <a:endParaRPr lang="en-US" sz="2676" spc="8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4014"/>
              </a:lnSpc>
            </a:pP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Email - Dry-run log (JSON):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Safe testing, no accidental sends</a:t>
            </a:r>
          </a:p>
          <a:p>
            <a:pPr algn="l">
              <a:lnSpc>
                <a:spcPts val="4014"/>
              </a:lnSpc>
            </a:pPr>
            <a:endParaRPr lang="en-US" sz="2676" spc="8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4014"/>
              </a:lnSpc>
            </a:pP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UI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- </a:t>
            </a: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Streamlit: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Fast dashboard, easy to demo</a:t>
            </a:r>
          </a:p>
          <a:p>
            <a:pPr algn="l">
              <a:lnSpc>
                <a:spcPts val="4014"/>
              </a:lnSpc>
            </a:pPr>
            <a:endParaRPr lang="en-US" sz="2676" spc="8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4014"/>
              </a:lnSpc>
            </a:pP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Security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- </a:t>
            </a:r>
            <a:r>
              <a:rPr lang="en-US" sz="2676" b="1" spc="8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python-dotenv:</a:t>
            </a:r>
            <a:r>
              <a:rPr lang="en-US" sz="2676" spc="8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API keys in .env, never hardcoded</a:t>
            </a:r>
          </a:p>
          <a:p>
            <a:pPr marL="0" lvl="0" indent="0" algn="l">
              <a:lnSpc>
                <a:spcPts val="4014"/>
              </a:lnSpc>
              <a:spcBef>
                <a:spcPct val="0"/>
              </a:spcBef>
            </a:pPr>
            <a:endParaRPr lang="en-US" sz="2676" spc="8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86393" y="2922471"/>
            <a:ext cx="13533859" cy="839386"/>
          </a:xfrm>
          <a:custGeom>
            <a:avLst/>
            <a:gdLst/>
            <a:ahLst/>
            <a:cxnLst/>
            <a:rect l="l" t="t" r="r" b="b"/>
            <a:pathLst>
              <a:path w="13533859" h="839386">
                <a:moveTo>
                  <a:pt x="0" y="0"/>
                </a:moveTo>
                <a:lnTo>
                  <a:pt x="13533860" y="0"/>
                </a:lnTo>
                <a:lnTo>
                  <a:pt x="13533860" y="839385"/>
                </a:lnTo>
                <a:lnTo>
                  <a:pt x="0" y="8393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86" b="-386"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2586393" y="4137069"/>
            <a:ext cx="13533859" cy="839386"/>
          </a:xfrm>
          <a:custGeom>
            <a:avLst/>
            <a:gdLst/>
            <a:ahLst/>
            <a:cxnLst/>
            <a:rect l="l" t="t" r="r" b="b"/>
            <a:pathLst>
              <a:path w="13533859" h="839386">
                <a:moveTo>
                  <a:pt x="0" y="0"/>
                </a:moveTo>
                <a:lnTo>
                  <a:pt x="13533860" y="0"/>
                </a:lnTo>
                <a:lnTo>
                  <a:pt x="13533860" y="839386"/>
                </a:lnTo>
                <a:lnTo>
                  <a:pt x="0" y="8393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86" b="-386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586393" y="5345509"/>
            <a:ext cx="13533859" cy="839386"/>
          </a:xfrm>
          <a:custGeom>
            <a:avLst/>
            <a:gdLst/>
            <a:ahLst/>
            <a:cxnLst/>
            <a:rect l="l" t="t" r="r" b="b"/>
            <a:pathLst>
              <a:path w="13533859" h="839386">
                <a:moveTo>
                  <a:pt x="0" y="0"/>
                </a:moveTo>
                <a:lnTo>
                  <a:pt x="13533860" y="0"/>
                </a:lnTo>
                <a:lnTo>
                  <a:pt x="13533860" y="839386"/>
                </a:lnTo>
                <a:lnTo>
                  <a:pt x="0" y="8393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86" b="-38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2586393" y="6560108"/>
            <a:ext cx="13533859" cy="839386"/>
          </a:xfrm>
          <a:custGeom>
            <a:avLst/>
            <a:gdLst/>
            <a:ahLst/>
            <a:cxnLst/>
            <a:rect l="l" t="t" r="r" b="b"/>
            <a:pathLst>
              <a:path w="13533859" h="839386">
                <a:moveTo>
                  <a:pt x="0" y="0"/>
                </a:moveTo>
                <a:lnTo>
                  <a:pt x="13533860" y="0"/>
                </a:lnTo>
                <a:lnTo>
                  <a:pt x="13533860" y="839386"/>
                </a:lnTo>
                <a:lnTo>
                  <a:pt x="0" y="8393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86" b="-38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586393" y="7593433"/>
            <a:ext cx="13533859" cy="839386"/>
          </a:xfrm>
          <a:custGeom>
            <a:avLst/>
            <a:gdLst/>
            <a:ahLst/>
            <a:cxnLst/>
            <a:rect l="l" t="t" r="r" b="b"/>
            <a:pathLst>
              <a:path w="13533859" h="839386">
                <a:moveTo>
                  <a:pt x="0" y="0"/>
                </a:moveTo>
                <a:lnTo>
                  <a:pt x="13533860" y="0"/>
                </a:lnTo>
                <a:lnTo>
                  <a:pt x="13533860" y="839386"/>
                </a:lnTo>
                <a:lnTo>
                  <a:pt x="0" y="8393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86" b="-386"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86393" y="8808032"/>
            <a:ext cx="13533859" cy="839386"/>
          </a:xfrm>
          <a:custGeom>
            <a:avLst/>
            <a:gdLst/>
            <a:ahLst/>
            <a:cxnLst/>
            <a:rect l="l" t="t" r="r" b="b"/>
            <a:pathLst>
              <a:path w="13533859" h="839386">
                <a:moveTo>
                  <a:pt x="0" y="0"/>
                </a:moveTo>
                <a:lnTo>
                  <a:pt x="13533860" y="0"/>
                </a:lnTo>
                <a:lnTo>
                  <a:pt x="13533860" y="839385"/>
                </a:lnTo>
                <a:lnTo>
                  <a:pt x="0" y="8393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86" b="-38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788866" y="3063431"/>
            <a:ext cx="544533" cy="544533"/>
          </a:xfrm>
          <a:custGeom>
            <a:avLst/>
            <a:gdLst/>
            <a:ahLst/>
            <a:cxnLst/>
            <a:rect l="l" t="t" r="r" b="b"/>
            <a:pathLst>
              <a:path w="544533" h="544533">
                <a:moveTo>
                  <a:pt x="0" y="0"/>
                </a:moveTo>
                <a:lnTo>
                  <a:pt x="544533" y="0"/>
                </a:lnTo>
                <a:lnTo>
                  <a:pt x="544533" y="544534"/>
                </a:lnTo>
                <a:lnTo>
                  <a:pt x="0" y="544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49252" y="1019175"/>
            <a:ext cx="1403522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0"/>
              </a:lnSpc>
              <a:spcBef>
                <a:spcPct val="0"/>
              </a:spcBef>
            </a:pPr>
            <a:r>
              <a:rPr lang="en-US" sz="7058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SECURITY RISK MITIGATION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9252" y="1928725"/>
            <a:ext cx="14788902" cy="60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All mandatory security risks addressed</a:t>
            </a:r>
          </a:p>
        </p:txBody>
      </p:sp>
      <p:sp>
        <p:nvSpPr>
          <p:cNvPr id="17" name="Freeform 17"/>
          <p:cNvSpPr/>
          <p:nvPr/>
        </p:nvSpPr>
        <p:spPr>
          <a:xfrm>
            <a:off x="2788866" y="4281416"/>
            <a:ext cx="544533" cy="544533"/>
          </a:xfrm>
          <a:custGeom>
            <a:avLst/>
            <a:gdLst/>
            <a:ahLst/>
            <a:cxnLst/>
            <a:rect l="l" t="t" r="r" b="b"/>
            <a:pathLst>
              <a:path w="544533" h="544533">
                <a:moveTo>
                  <a:pt x="0" y="0"/>
                </a:moveTo>
                <a:lnTo>
                  <a:pt x="544533" y="0"/>
                </a:lnTo>
                <a:lnTo>
                  <a:pt x="544533" y="544533"/>
                </a:lnTo>
                <a:lnTo>
                  <a:pt x="0" y="544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788866" y="5509855"/>
            <a:ext cx="544533" cy="544533"/>
          </a:xfrm>
          <a:custGeom>
            <a:avLst/>
            <a:gdLst/>
            <a:ahLst/>
            <a:cxnLst/>
            <a:rect l="l" t="t" r="r" b="b"/>
            <a:pathLst>
              <a:path w="544533" h="544533">
                <a:moveTo>
                  <a:pt x="0" y="0"/>
                </a:moveTo>
                <a:lnTo>
                  <a:pt x="544533" y="0"/>
                </a:lnTo>
                <a:lnTo>
                  <a:pt x="544533" y="544533"/>
                </a:lnTo>
                <a:lnTo>
                  <a:pt x="0" y="544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788866" y="6718295"/>
            <a:ext cx="544533" cy="544533"/>
          </a:xfrm>
          <a:custGeom>
            <a:avLst/>
            <a:gdLst/>
            <a:ahLst/>
            <a:cxnLst/>
            <a:rect l="l" t="t" r="r" b="b"/>
            <a:pathLst>
              <a:path w="544533" h="544533">
                <a:moveTo>
                  <a:pt x="0" y="0"/>
                </a:moveTo>
                <a:lnTo>
                  <a:pt x="544533" y="0"/>
                </a:lnTo>
                <a:lnTo>
                  <a:pt x="544533" y="544533"/>
                </a:lnTo>
                <a:lnTo>
                  <a:pt x="0" y="544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788866" y="7741132"/>
            <a:ext cx="544533" cy="544533"/>
          </a:xfrm>
          <a:custGeom>
            <a:avLst/>
            <a:gdLst/>
            <a:ahLst/>
            <a:cxnLst/>
            <a:rect l="l" t="t" r="r" b="b"/>
            <a:pathLst>
              <a:path w="544533" h="544533">
                <a:moveTo>
                  <a:pt x="0" y="0"/>
                </a:moveTo>
                <a:lnTo>
                  <a:pt x="544533" y="0"/>
                </a:lnTo>
                <a:lnTo>
                  <a:pt x="544533" y="544533"/>
                </a:lnTo>
                <a:lnTo>
                  <a:pt x="0" y="544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788866" y="8986033"/>
            <a:ext cx="544533" cy="544533"/>
          </a:xfrm>
          <a:custGeom>
            <a:avLst/>
            <a:gdLst/>
            <a:ahLst/>
            <a:cxnLst/>
            <a:rect l="l" t="t" r="r" b="b"/>
            <a:pathLst>
              <a:path w="544533" h="544533">
                <a:moveTo>
                  <a:pt x="0" y="0"/>
                </a:moveTo>
                <a:lnTo>
                  <a:pt x="544533" y="0"/>
                </a:lnTo>
                <a:lnTo>
                  <a:pt x="544533" y="544534"/>
                </a:lnTo>
                <a:lnTo>
                  <a:pt x="0" y="544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755564" y="3130910"/>
            <a:ext cx="3231797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2200" b="1" spc="22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PROMPT INJECTION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55564" y="4435424"/>
            <a:ext cx="3231797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2200" b="1" spc="22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API KEY EXPOSURE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55564" y="5526919"/>
            <a:ext cx="3231797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2200" b="1" spc="22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DATA PRIVACY / PII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55564" y="6831433"/>
            <a:ext cx="379465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2200" b="1" spc="22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HALLUCINATION RISK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55564" y="7835528"/>
            <a:ext cx="410422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2200" b="1" spc="22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UNAUTHORISED ACCESS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55564" y="9022937"/>
            <a:ext cx="410422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2200" b="1" spc="22">
                <a:solidFill>
                  <a:srgbClr val="3F3E3A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ACCIDENTAL EMAIL SEND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50163" y="2970985"/>
            <a:ext cx="7438646" cy="68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2"/>
              </a:lnSpc>
              <a:spcBef>
                <a:spcPct val="0"/>
              </a:spcBef>
            </a:pPr>
            <a:r>
              <a:rPr lang="en-US" sz="1854" spc="5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Invoice fields injected as structured variables, JSON-only output enforced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50163" y="4230637"/>
            <a:ext cx="7438646" cy="68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2"/>
              </a:lnSpc>
              <a:spcBef>
                <a:spcPct val="0"/>
              </a:spcBef>
            </a:pPr>
            <a:r>
              <a:rPr lang="en-US" sz="1854" spc="5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.env file used, .gitignore excludes it, .env.example provided for GitHub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50163" y="5409842"/>
            <a:ext cx="7438646" cy="68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2"/>
              </a:lnSpc>
              <a:spcBef>
                <a:spcPct val="0"/>
              </a:spcBef>
            </a:pPr>
            <a:r>
              <a:rPr lang="en-US" sz="1854" spc="5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Data processed locally, no raw PII in logs, no third-party data sharing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50163" y="6570657"/>
            <a:ext cx="7438646" cy="68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2"/>
              </a:lnSpc>
              <a:spcBef>
                <a:spcPct val="0"/>
              </a:spcBef>
            </a:pPr>
            <a:r>
              <a:rPr lang="en-US" sz="1854" spc="5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Structured JSON output, human review via dashboard before live send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50163" y="7806953"/>
            <a:ext cx="7438646" cy="32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2"/>
              </a:lnSpc>
              <a:spcBef>
                <a:spcPct val="0"/>
              </a:spcBef>
            </a:pPr>
            <a:r>
              <a:rPr lang="en-US" sz="1854" spc="5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Agent runs locally, no public endpoint, dry-run ON by default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50163" y="8850133"/>
            <a:ext cx="7438646" cy="68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2"/>
              </a:lnSpc>
              <a:spcBef>
                <a:spcPct val="0"/>
              </a:spcBef>
            </a:pPr>
            <a:r>
              <a:rPr lang="en-US" sz="1854" spc="5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Dry-run mode is default, live send requires manual toggle in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9517" y="3167171"/>
            <a:ext cx="8387282" cy="4214609"/>
          </a:xfrm>
          <a:custGeom>
            <a:avLst/>
            <a:gdLst/>
            <a:ahLst/>
            <a:cxnLst/>
            <a:rect l="l" t="t" r="r" b="b"/>
            <a:pathLst>
              <a:path w="8387282" h="4214609">
                <a:moveTo>
                  <a:pt x="0" y="0"/>
                </a:moveTo>
                <a:lnTo>
                  <a:pt x="8387283" y="0"/>
                </a:lnTo>
                <a:lnTo>
                  <a:pt x="8387283" y="4214610"/>
                </a:lnTo>
                <a:lnTo>
                  <a:pt x="0" y="42146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92257" y="3167171"/>
            <a:ext cx="8345761" cy="4214609"/>
          </a:xfrm>
          <a:custGeom>
            <a:avLst/>
            <a:gdLst/>
            <a:ahLst/>
            <a:cxnLst/>
            <a:rect l="l" t="t" r="r" b="b"/>
            <a:pathLst>
              <a:path w="8345761" h="4214609">
                <a:moveTo>
                  <a:pt x="0" y="0"/>
                </a:moveTo>
                <a:lnTo>
                  <a:pt x="8345761" y="0"/>
                </a:lnTo>
                <a:lnTo>
                  <a:pt x="8345761" y="4214610"/>
                </a:lnTo>
                <a:lnTo>
                  <a:pt x="0" y="42146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949252" y="1019175"/>
            <a:ext cx="1403522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0"/>
              </a:lnSpc>
              <a:spcBef>
                <a:spcPct val="0"/>
              </a:spcBef>
            </a:pPr>
            <a:r>
              <a:rPr lang="en-US" sz="7058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LIVE DASHBOARD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49252" y="1928725"/>
            <a:ext cx="14788902" cy="60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Streamlit UI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11834" y="7308376"/>
            <a:ext cx="2484955" cy="47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2"/>
              </a:lnSpc>
              <a:spcBef>
                <a:spcPct val="0"/>
              </a:spcBef>
            </a:pPr>
            <a:r>
              <a:rPr lang="en-US" sz="2654" spc="7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Home page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86761" y="7279631"/>
            <a:ext cx="6201239" cy="47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2"/>
              </a:lnSpc>
              <a:spcBef>
                <a:spcPct val="0"/>
              </a:spcBef>
            </a:pPr>
            <a:r>
              <a:rPr lang="en-US" sz="2654" spc="79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Generated Mails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17999" y="2342733"/>
            <a:ext cx="13572184" cy="6378927"/>
          </a:xfrm>
          <a:custGeom>
            <a:avLst/>
            <a:gdLst/>
            <a:ahLst/>
            <a:cxnLst/>
            <a:rect l="l" t="t" r="r" b="b"/>
            <a:pathLst>
              <a:path w="13572184" h="6378927">
                <a:moveTo>
                  <a:pt x="0" y="0"/>
                </a:moveTo>
                <a:lnTo>
                  <a:pt x="13572184" y="0"/>
                </a:lnTo>
                <a:lnTo>
                  <a:pt x="13572184" y="6378927"/>
                </a:lnTo>
                <a:lnTo>
                  <a:pt x="0" y="63789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49252" y="1019175"/>
            <a:ext cx="1403522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0"/>
              </a:lnSpc>
              <a:spcBef>
                <a:spcPct val="0"/>
              </a:spcBef>
            </a:pPr>
            <a:r>
              <a:rPr lang="en-US" sz="4658" b="1" spc="4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AI-GENERATED EMAILS - TONE COMPARISON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85738" y="2544261"/>
            <a:ext cx="4829594" cy="47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2"/>
              </a:lnSpc>
              <a:spcBef>
                <a:spcPct val="0"/>
              </a:spcBef>
            </a:pPr>
            <a:r>
              <a:rPr lang="en-US" sz="2654" spc="7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Stage 1:  Warm &amp; Friendly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4333" y="2544261"/>
            <a:ext cx="4829594" cy="47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2"/>
              </a:lnSpc>
              <a:spcBef>
                <a:spcPct val="0"/>
              </a:spcBef>
            </a:pPr>
            <a:r>
              <a:rPr lang="en-US" sz="2654" spc="7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Stage 4 — Stern &amp; Urgent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45167" y="3992645"/>
            <a:ext cx="5710736" cy="345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Subject: Quick Reminder – Invoice #INV-2024-001 | Rs.45,000 Due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Dear Rajesh Kapoor,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 hope this email finds you well! This is a friendly reminder that Invoice #INV-2024-001 for Rs.45,000 was due on 03-May-2026.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If you have already processed this, please disregard. Otherwise, please use the payment link below to complete your payment.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Thank you for your prompt attention!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Best regards,</a:t>
            </a: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TCI Finance Team</a:t>
            </a:r>
          </a:p>
          <a:p>
            <a:pPr marL="0" lvl="0" indent="0" algn="l">
              <a:lnSpc>
                <a:spcPts val="54"/>
              </a:lnSpc>
              <a:spcBef>
                <a:spcPct val="0"/>
              </a:spcBef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13544" y="3871857"/>
            <a:ext cx="5710736" cy="345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Subject: FINAL NOTICE – Invoice #INV-2024-003 – Immediate Action Required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Dear Mr. Amit Verma,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This is our final reminder. Invoice #INV-2024-003 for Rs.30,000 is now 25 days overdue.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Failure to remit payment within 24 hours will result in escalation to our legal and recovery team.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Please act immediately. Contact us urgently to resolve this matter.</a:t>
            </a:r>
          </a:p>
          <a:p>
            <a:pPr algn="l">
              <a:lnSpc>
                <a:spcPts val="1932"/>
              </a:lnSpc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932"/>
              </a:lnSpc>
            </a:pPr>
            <a:r>
              <a:rPr lang="en-US" sz="1288" spc="3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TCI Finance Team</a:t>
            </a:r>
          </a:p>
          <a:p>
            <a:pPr marL="0" lvl="0" indent="0" algn="l">
              <a:lnSpc>
                <a:spcPts val="54"/>
              </a:lnSpc>
              <a:spcBef>
                <a:spcPct val="0"/>
              </a:spcBef>
            </a:pPr>
            <a:endParaRPr lang="en-US" sz="1288" spc="38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83393" y="2620461"/>
            <a:ext cx="6879727" cy="6560235"/>
          </a:xfrm>
          <a:custGeom>
            <a:avLst/>
            <a:gdLst/>
            <a:ahLst/>
            <a:cxnLst/>
            <a:rect l="l" t="t" r="r" b="b"/>
            <a:pathLst>
              <a:path w="6879727" h="6560235">
                <a:moveTo>
                  <a:pt x="0" y="0"/>
                </a:moveTo>
                <a:lnTo>
                  <a:pt x="6879727" y="0"/>
                </a:lnTo>
                <a:lnTo>
                  <a:pt x="6879727" y="6560235"/>
                </a:lnTo>
                <a:lnTo>
                  <a:pt x="0" y="65602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49252" y="1019175"/>
            <a:ext cx="1403522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0"/>
              </a:lnSpc>
              <a:spcBef>
                <a:spcPct val="0"/>
              </a:spcBef>
            </a:pPr>
            <a:r>
              <a:rPr lang="en-US" sz="7058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LEARNINGS &amp; NEXT STEPS</a:t>
            </a:r>
          </a:p>
        </p:txBody>
      </p:sp>
      <p:sp>
        <p:nvSpPr>
          <p:cNvPr id="10" name="Freeform 10"/>
          <p:cNvSpPr/>
          <p:nvPr/>
        </p:nvSpPr>
        <p:spPr>
          <a:xfrm>
            <a:off x="9370619" y="2682487"/>
            <a:ext cx="6749634" cy="6436184"/>
          </a:xfrm>
          <a:custGeom>
            <a:avLst/>
            <a:gdLst/>
            <a:ahLst/>
            <a:cxnLst/>
            <a:rect l="l" t="t" r="r" b="b"/>
            <a:pathLst>
              <a:path w="6749634" h="6436184">
                <a:moveTo>
                  <a:pt x="0" y="0"/>
                </a:moveTo>
                <a:lnTo>
                  <a:pt x="6749634" y="0"/>
                </a:lnTo>
                <a:lnTo>
                  <a:pt x="6749634" y="6436183"/>
                </a:lnTo>
                <a:lnTo>
                  <a:pt x="0" y="64361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31730" y="2878316"/>
            <a:ext cx="4829594" cy="47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2"/>
              </a:lnSpc>
              <a:spcBef>
                <a:spcPct val="0"/>
              </a:spcBef>
            </a:pPr>
            <a:r>
              <a:rPr lang="en-US" sz="2654" spc="7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What I Built &amp; Learned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66866" y="2878316"/>
            <a:ext cx="4829594" cy="47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2"/>
              </a:lnSpc>
              <a:spcBef>
                <a:spcPct val="0"/>
              </a:spcBef>
            </a:pPr>
            <a:r>
              <a:rPr lang="en-US" sz="2654" spc="7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Production Next Steps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51534" y="4087002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End-to-end AI agent pipeline from data to output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51534" y="4591438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LangChain for structured LLM integration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951534" y="5097193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Prompt engineering for consistent JSON output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51534" y="6108702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Streamlit for rapid AI dashboard development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51534" y="5602947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Security best practices for AI applications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51534" y="6614456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Git and GitHub for version control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776809" y="4172068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Replace CSV with live database (PostgreSQL)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776809" y="4676504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Add APScheduler for automatic daily runs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776809" y="5182259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Integrate SendGrid for real email delivery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776809" y="6193768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Deploy on cloud (AWS / Azure)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76809" y="5688013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Add Pydantic validation on LLM output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76809" y="6699522"/>
            <a:ext cx="6343444" cy="3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896" spc="56">
                <a:solidFill>
                  <a:srgbClr val="F0F4F5"/>
                </a:solidFill>
                <a:latin typeface="Clear Sans"/>
                <a:ea typeface="Clear Sans"/>
                <a:cs typeface="Clear Sans"/>
                <a:sym typeface="Clear Sans"/>
              </a:rPr>
              <a:t>→ Add LangSmith tracing for observability</a:t>
            </a:r>
          </a:p>
          <a:p>
            <a:pPr marL="0" lvl="0" indent="0" algn="l">
              <a:lnSpc>
                <a:spcPts val="80"/>
              </a:lnSpc>
              <a:spcBef>
                <a:spcPct val="0"/>
              </a:spcBef>
            </a:pPr>
            <a:endParaRPr lang="en-US" sz="1896" spc="56">
              <a:solidFill>
                <a:srgbClr val="F0F4F5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02714" y="3721072"/>
            <a:ext cx="10282571" cy="399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36"/>
              </a:lnSpc>
            </a:pPr>
            <a:r>
              <a:rPr lang="en-US" sz="13113" b="1" spc="3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THANK</a:t>
            </a:r>
          </a:p>
          <a:p>
            <a:pPr marL="0" lvl="0" indent="0" algn="ctr">
              <a:lnSpc>
                <a:spcPts val="15736"/>
              </a:lnSpc>
              <a:spcBef>
                <a:spcPct val="0"/>
              </a:spcBef>
            </a:pPr>
            <a:r>
              <a:rPr lang="en-US" sz="13113" b="1" spc="3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767</Words>
  <Application>Microsoft Office PowerPoint</Application>
  <PresentationFormat>Custom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Open Sauce Bold</vt:lpstr>
      <vt:lpstr>Clear Sans</vt:lpstr>
      <vt:lpstr>Open Sauce</vt:lpstr>
      <vt:lpstr>Sansation Bold</vt:lpstr>
      <vt:lpstr>Arial</vt:lpstr>
      <vt:lpstr>Clear Sans Bold</vt:lpstr>
      <vt:lpstr>Open Sauce Light</vt:lpstr>
      <vt:lpstr>Calibri</vt:lpstr>
      <vt:lpstr>Sansation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Follow-Up Email Agent</dc:title>
  <cp:lastModifiedBy>Sanjeev Jakhmola</cp:lastModifiedBy>
  <cp:revision>2</cp:revision>
  <dcterms:created xsi:type="dcterms:W3CDTF">2006-08-16T00:00:00Z</dcterms:created>
  <dcterms:modified xsi:type="dcterms:W3CDTF">2026-05-09T12:15:33Z</dcterms:modified>
  <dc:identifier>DAHJKpn048Q</dc:identifier>
</cp:coreProperties>
</file>